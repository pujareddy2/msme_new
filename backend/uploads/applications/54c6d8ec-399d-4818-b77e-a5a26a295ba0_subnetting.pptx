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8" r:id="rId2"/>
    <p:sldId id="257" r:id="rId3"/>
    <p:sldId id="259" r:id="rId4"/>
    <p:sldId id="261" r:id="rId5"/>
    <p:sldId id="260" r:id="rId6"/>
    <p:sldId id="263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6EA3E-1591-417E-A4F9-5E5A437A6483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D408AA-865C-4048-962B-FB876AB389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562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408AA-865C-4048-962B-FB876AB3897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86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45ED0-8356-136C-C0A0-E52734168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D659F-7F26-14CF-B197-C2A168C2E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159E-0266-BC2B-0CDA-81236988C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4149F-448D-4C81-91D7-72CC2628E07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30D4D-AF1C-7CCE-9B81-1ECD43F0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386C8-FB6A-C125-EAAF-78BB2F82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9486-E9E2-4ADB-9F4D-E2ED75489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01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B2B58-3530-DFA2-CE8B-ABAD60685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14940-9985-2488-BAFA-7ECBE3FBA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B3133-2A61-9442-5CA4-1D96C8969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4149F-448D-4C81-91D7-72CC2628E07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779EC-7B6C-EE58-6B53-6D056917C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CD412-400B-D068-DE04-BCE22D5F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9486-E9E2-4ADB-9F4D-E2ED75489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479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0232-EEDA-4EF9-08D4-096B8110F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3B00E-9F02-93E5-302B-7E636A5F8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BE454-CA2E-44CE-78C2-B8D848293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4149F-448D-4C81-91D7-72CC2628E07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127EA-0064-68DB-4A72-B6904D00F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A62EA-47B5-9FB6-D8F4-70F7BD7C3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9486-E9E2-4ADB-9F4D-E2ED75489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185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0205-F48C-62CD-7A0E-E7210A988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7B94F-DA48-067F-412C-FE495D9696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A3A1D-974F-DC4C-BBDA-FAA03DD71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F6E90-1166-9F03-4780-B92B19B97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4149F-448D-4C81-91D7-72CC2628E07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CAF50-C017-639B-D91B-A9B89172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EBB57-9DF0-B7BC-654C-1DE39406E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9486-E9E2-4ADB-9F4D-E2ED75489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0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D1F69-7010-C722-D1EF-91353C92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8B849-D2C6-7158-894D-D0A1E8A42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732BA-CAFE-A4F8-4B7D-88EA4FF2E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D31009-F283-3390-D61C-002F8C63EF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B5C58B-816A-F01B-BAFB-5C8E768DD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AA85C3-28D5-7E09-5218-23B81D25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4149F-448D-4C81-91D7-72CC2628E07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43F320-F037-4902-00D7-94B8C4C21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8D7B9-F2CC-CFAF-4EB8-E7DFAA930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9486-E9E2-4ADB-9F4D-E2ED75489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269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293A2-CAA3-37B0-0A19-8C5E4B55A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6ED9F-4D32-1276-3C06-C93CF73BE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4149F-448D-4C81-91D7-72CC2628E07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8149AB-DC9D-A5A2-6251-1D0552760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27396-1A36-8134-CEBA-14CC5CCE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9486-E9E2-4ADB-9F4D-E2ED75489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89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F098DB-1E93-252C-2CFD-2DA5E476C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4149F-448D-4C81-91D7-72CC2628E07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BC5DD-2D76-6570-A839-4E1515F7E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AFCBB-4811-E863-9C5C-D2F6B36C8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9486-E9E2-4ADB-9F4D-E2ED75489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339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2EB4-6E03-3372-DFA7-FEBAD3A4D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07CA-F45E-9740-0866-C1EFBFE25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094F4-9733-F19F-BA6E-2AAC43613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2A3A9-80E0-0445-EF3F-278D57D0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4149F-448D-4C81-91D7-72CC2628E07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6CBC7-BE5A-B9DF-12BF-A4F0F810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D5150-0043-6A57-9CF1-636818B6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9486-E9E2-4ADB-9F4D-E2ED75489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75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4843D-A407-8B11-AE1B-3921658FE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268DA6-AE61-5A04-CB8D-19EA8403D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6C977-9F15-81AD-C930-84431B08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86166-FD1A-B796-8CFB-E2B99F303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4149F-448D-4C81-91D7-72CC2628E07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92B68-2AEA-8358-DC3F-B4E780FF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ED1A9-4D32-88A0-5034-E5674BD82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9486-E9E2-4ADB-9F4D-E2ED75489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40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10CB-2873-A960-9778-C26E7E8A0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240EB-E654-E3FC-1F81-5E34FAA7C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010DD-CBF6-9407-34B3-D04F2EBC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4149F-448D-4C81-91D7-72CC2628E07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E4FA2-7093-A2BE-7A96-2F3CA7570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FA397-5558-CAC5-16C7-DEBFCFDE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9486-E9E2-4ADB-9F4D-E2ED75489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335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9EE632-19C2-4C80-2236-A152A88BC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F385B-EA69-0B6D-0E00-718183A2A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8D2D6-DAF2-9D78-AB59-6D94D671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4149F-448D-4C81-91D7-72CC2628E07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E936D-625D-0AA9-FF3B-10198428B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DE868-6FBB-059B-7969-AF896E924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9486-E9E2-4ADB-9F4D-E2ED75489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155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C02E3A-DA3B-8613-284F-53F55FB5F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FCC11-7B16-A1B5-A66F-B00BC34F0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57E7-4658-5DD4-EDEE-78955D8CA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94149F-448D-4C81-91D7-72CC2628E07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0A5AF-3B71-9281-9870-F46D037C0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03614-6B71-339D-81C9-E8D79C78D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29486-E9E2-4ADB-9F4D-E2ED75489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14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svg.org/thank-you-decoration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870685-A549-5B47-815C-9AF0EB129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5D9C8-343B-FB90-71DD-9AECFEBEB3D5}"/>
              </a:ext>
            </a:extLst>
          </p:cNvPr>
          <p:cNvSpPr txBox="1"/>
          <p:nvPr/>
        </p:nvSpPr>
        <p:spPr>
          <a:xfrm>
            <a:off x="5960533" y="1320800"/>
            <a:ext cx="5698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Arial Black" panose="020B0A04020102020204" pitchFamily="34" charset="0"/>
              </a:rPr>
              <a:t>SUBNETTING</a:t>
            </a:r>
            <a:endParaRPr lang="en-IN" sz="5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183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3AEF2F-0E7A-1C3A-562D-74D54B35A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766" y="0"/>
            <a:ext cx="5334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692EBC-0AC0-CDF1-5814-4F3295584B28}"/>
              </a:ext>
            </a:extLst>
          </p:cNvPr>
          <p:cNvSpPr txBox="1"/>
          <p:nvPr/>
        </p:nvSpPr>
        <p:spPr>
          <a:xfrm>
            <a:off x="237067" y="287867"/>
            <a:ext cx="62230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Subnetting:</a:t>
            </a:r>
          </a:p>
          <a:p>
            <a:r>
              <a:rPr lang="en-US" dirty="0"/>
              <a:t>Subnetting is a process of dividing a large network(</a:t>
            </a:r>
            <a:r>
              <a:rPr lang="en-US" dirty="0" err="1"/>
              <a:t>ip</a:t>
            </a:r>
            <a:r>
              <a:rPr lang="en-US" dirty="0"/>
              <a:t>) into smaller, more manageable sub-networks, called subnets.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network performance,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132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8973AA-D8C0-1B91-8542-67ECDAEE8A02}"/>
              </a:ext>
            </a:extLst>
          </p:cNvPr>
          <p:cNvSpPr txBox="1"/>
          <p:nvPr/>
        </p:nvSpPr>
        <p:spPr>
          <a:xfrm>
            <a:off x="279400" y="313267"/>
            <a:ext cx="111844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3200" b="1" dirty="0"/>
              <a:t>CLASSES OF IPV4 ADDRESS:</a:t>
            </a:r>
            <a:endParaRPr lang="en-IN" dirty="0"/>
          </a:p>
        </p:txBody>
      </p:sp>
      <p:pic>
        <p:nvPicPr>
          <p:cNvPr id="1026" name="Picture 2" descr="Introduction of Classful IP Addressing | GeeksforGeeks">
            <a:extLst>
              <a:ext uri="{FF2B5EF4-FFF2-40B4-BE49-F238E27FC236}">
                <a16:creationId xmlns:a16="http://schemas.microsoft.com/office/drawing/2014/main" id="{955FDAF2-E7A9-854A-07EE-F42D8A7F4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20799"/>
            <a:ext cx="12192000" cy="5012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351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hat is Subnet Mask and Default Mask in IP Addressing || IP Addressing">
            <a:extLst>
              <a:ext uri="{FF2B5EF4-FFF2-40B4-BE49-F238E27FC236}">
                <a16:creationId xmlns:a16="http://schemas.microsoft.com/office/drawing/2014/main" id="{E4600480-DCBB-AF23-4C47-4F6583A02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9345" y="0"/>
            <a:ext cx="121380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8880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P SUBNETTING AND EXAMPLE ~ Seputar Informasi">
            <a:extLst>
              <a:ext uri="{FF2B5EF4-FFF2-40B4-BE49-F238E27FC236}">
                <a16:creationId xmlns:a16="http://schemas.microsoft.com/office/drawing/2014/main" id="{4B93ECF7-FD22-324D-AF33-5B6EB6194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067" y="448734"/>
            <a:ext cx="9279466" cy="585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113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10387-AB26-1D15-0AD4-9C49EBEF405A}"/>
              </a:ext>
            </a:extLst>
          </p:cNvPr>
          <p:cNvSpPr txBox="1"/>
          <p:nvPr/>
        </p:nvSpPr>
        <p:spPr>
          <a:xfrm>
            <a:off x="381000" y="533400"/>
            <a:ext cx="114046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UNDERSTANDING SUBNETTING :</a:t>
            </a:r>
          </a:p>
          <a:p>
            <a:endParaRPr lang="en-US" dirty="0"/>
          </a:p>
          <a:p>
            <a:r>
              <a:rPr lang="en-US" dirty="0"/>
              <a:t>10.10.10.1  </a:t>
            </a:r>
          </a:p>
          <a:p>
            <a:r>
              <a:rPr lang="en-US" dirty="0"/>
              <a:t>                                  255.255.255.0         or     255.255.0.0      or      255.0.0.0  </a:t>
            </a:r>
            <a:r>
              <a:rPr lang="en-US" b="1" dirty="0"/>
              <a:t>(SAME NETWORK)  </a:t>
            </a:r>
            <a:r>
              <a:rPr lang="en-US" b="1" dirty="0">
                <a:solidFill>
                  <a:srgbClr val="FF0000"/>
                </a:solidFill>
              </a:rPr>
              <a:t>SWITCH</a:t>
            </a:r>
          </a:p>
          <a:p>
            <a:r>
              <a:rPr lang="en-US" dirty="0"/>
              <a:t> 10.10.10.9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BUT…..</a:t>
            </a:r>
          </a:p>
          <a:p>
            <a:endParaRPr lang="en-US" dirty="0"/>
          </a:p>
          <a:p>
            <a:r>
              <a:rPr lang="en-US" dirty="0"/>
              <a:t>10.10.10.1</a:t>
            </a:r>
          </a:p>
          <a:p>
            <a:r>
              <a:rPr lang="en-US" dirty="0"/>
              <a:t>                                 255.255.255.248 </a:t>
            </a:r>
            <a:r>
              <a:rPr lang="en-US" b="1" dirty="0"/>
              <a:t>(DIFFERENT NETWORK)  </a:t>
            </a:r>
            <a:r>
              <a:rPr lang="en-US" b="1" dirty="0">
                <a:solidFill>
                  <a:srgbClr val="FF0000"/>
                </a:solidFill>
              </a:rPr>
              <a:t>ROUTERS</a:t>
            </a:r>
          </a:p>
          <a:p>
            <a:r>
              <a:rPr lang="en-US" dirty="0"/>
              <a:t>10.10.10.9                              </a:t>
            </a:r>
          </a:p>
          <a:p>
            <a:endParaRPr lang="en-US" dirty="0"/>
          </a:p>
          <a:p>
            <a:r>
              <a:rPr lang="en-US" dirty="0"/>
              <a:t>IPs are in different networks because:    </a:t>
            </a:r>
          </a:p>
          <a:p>
            <a:pPr marL="285750" indent="-285750">
              <a:buFontTx/>
              <a:buChar char="-"/>
            </a:pPr>
            <a:r>
              <a:rPr lang="en-US" dirty="0"/>
              <a:t>With a subnet mask of 255.255.255.248 (/29), 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subnet range is smaller.   </a:t>
            </a:r>
          </a:p>
          <a:p>
            <a:r>
              <a:rPr lang="en-US" dirty="0"/>
              <a:t>-    10.10.10.1 is in one subnet, and 10.10.10.9 is in another subnet because they fall into different ranges defined by this tighter subnet mask.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7558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652FD4-84E8-CE75-4EF5-307C9F379D0C}"/>
              </a:ext>
            </a:extLst>
          </p:cNvPr>
          <p:cNvSpPr txBox="1"/>
          <p:nvPr/>
        </p:nvSpPr>
        <p:spPr>
          <a:xfrm>
            <a:off x="2015067" y="1100666"/>
            <a:ext cx="737446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SUBNETTING - 5 STEPS</a:t>
            </a:r>
          </a:p>
          <a:p>
            <a:endParaRPr lang="en-US" sz="4000" b="1" dirty="0"/>
          </a:p>
          <a:p>
            <a:pPr marL="342900" indent="-342900">
              <a:buAutoNum type="arabicPeriod"/>
            </a:pPr>
            <a:r>
              <a:rPr lang="en-US" dirty="0"/>
              <a:t>Identify the class of the IP address and note the Default Subnet Mask.</a:t>
            </a:r>
          </a:p>
          <a:p>
            <a:endParaRPr lang="en-US" dirty="0"/>
          </a:p>
          <a:p>
            <a:r>
              <a:rPr lang="en-US" dirty="0"/>
              <a:t>2. Convert the Default Subnet Mask into Binary.</a:t>
            </a:r>
          </a:p>
          <a:p>
            <a:endParaRPr lang="en-US" dirty="0"/>
          </a:p>
          <a:p>
            <a:r>
              <a:rPr lang="en-US" dirty="0"/>
              <a:t>3. Note the number of hosts required per subnet and find the Subnet Generator (SG) and octet position.</a:t>
            </a:r>
          </a:p>
          <a:p>
            <a:endParaRPr lang="en-US" dirty="0"/>
          </a:p>
          <a:p>
            <a:r>
              <a:rPr lang="en-US" dirty="0"/>
              <a:t>4. Generate the new subnet mask.</a:t>
            </a:r>
          </a:p>
          <a:p>
            <a:endParaRPr lang="en-US" dirty="0"/>
          </a:p>
          <a:p>
            <a:r>
              <a:rPr lang="en-US" dirty="0"/>
              <a:t>5. Use the SG and generate the network ranges (subnets) in the appropriate octet position.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3343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B2B75B-9286-38F3-EA50-9181B12E720C}"/>
              </a:ext>
            </a:extLst>
          </p:cNvPr>
          <p:cNvSpPr txBox="1"/>
          <p:nvPr/>
        </p:nvSpPr>
        <p:spPr>
          <a:xfrm>
            <a:off x="279400" y="262467"/>
            <a:ext cx="1142153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Q) Subnet the IP address 216.21.5.0 into 30 hosts in each subnet?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Step1:</a:t>
            </a:r>
          </a:p>
          <a:p>
            <a:r>
              <a:rPr lang="en-US" b="1" dirty="0"/>
              <a:t>               </a:t>
            </a:r>
            <a:r>
              <a:rPr lang="en-US" dirty="0"/>
              <a:t>Class C – Default Subnet Mask : 255.255.255.0</a:t>
            </a:r>
          </a:p>
          <a:p>
            <a:endParaRPr lang="en-US" b="1" dirty="0"/>
          </a:p>
          <a:p>
            <a:r>
              <a:rPr lang="en-US" b="1" dirty="0"/>
              <a:t>Step2:</a:t>
            </a:r>
          </a:p>
          <a:p>
            <a:r>
              <a:rPr lang="en-US" b="1" dirty="0"/>
              <a:t>               1 1 1 1 1 1 1 1 . 1 1 1 1 1 1 1 1  . 1 1 1 1 1 1 1 1 . 0 0 0 0 0 0 0 0</a:t>
            </a:r>
          </a:p>
          <a:p>
            <a:endParaRPr lang="en-IN" b="1" dirty="0"/>
          </a:p>
          <a:p>
            <a:r>
              <a:rPr lang="en-IN" b="1" dirty="0"/>
              <a:t>Step3:</a:t>
            </a:r>
          </a:p>
          <a:p>
            <a:r>
              <a:rPr lang="en-IN" b="1" dirty="0"/>
              <a:t>                </a:t>
            </a:r>
            <a:r>
              <a:rPr lang="en-IN" b="1" dirty="0">
                <a:solidFill>
                  <a:srgbClr val="FF0000"/>
                </a:solidFill>
              </a:rPr>
              <a:t>No . Of hosts/subnet :   </a:t>
            </a:r>
            <a:r>
              <a:rPr lang="en-IN" b="1" dirty="0"/>
              <a:t>30 (11110) – 5 bits                      </a:t>
            </a:r>
            <a:r>
              <a:rPr lang="en-IN" b="1" dirty="0">
                <a:solidFill>
                  <a:srgbClr val="FF0000"/>
                </a:solidFill>
              </a:rPr>
              <a:t>SG  : </a:t>
            </a:r>
            <a:r>
              <a:rPr lang="en-IN" b="1" dirty="0"/>
              <a:t>32 </a:t>
            </a:r>
            <a:r>
              <a:rPr lang="en-IN" b="1" dirty="0">
                <a:solidFill>
                  <a:srgbClr val="FF0000"/>
                </a:solidFill>
              </a:rPr>
              <a:t>                            OCTET POSITON : </a:t>
            </a:r>
            <a:r>
              <a:rPr lang="en-IN" b="1" dirty="0"/>
              <a:t>4</a:t>
            </a:r>
          </a:p>
          <a:p>
            <a:r>
              <a:rPr lang="en-IN" b="1" dirty="0">
                <a:solidFill>
                  <a:srgbClr val="FF0000"/>
                </a:solidFill>
              </a:rPr>
              <a:t>                </a:t>
            </a:r>
          </a:p>
          <a:p>
            <a:endParaRPr lang="en-IN" b="1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               </a:t>
            </a:r>
            <a:r>
              <a:rPr lang="en-US" b="1" dirty="0"/>
              <a:t>1 1 1 1 1 1 1 1 . 1 1 1 1 1 1 1 1  . 1 1 1 1 1 1 1 1 . 1 1 </a:t>
            </a:r>
            <a:r>
              <a:rPr lang="en-US" b="1" dirty="0">
                <a:solidFill>
                  <a:srgbClr val="00B050"/>
                </a:solidFill>
              </a:rPr>
              <a:t>1 </a:t>
            </a:r>
            <a:r>
              <a:rPr lang="en-US" b="1" dirty="0"/>
              <a:t>0 0 0 0 0</a:t>
            </a:r>
          </a:p>
          <a:p>
            <a:endParaRPr lang="en-US" b="1" dirty="0"/>
          </a:p>
          <a:p>
            <a:r>
              <a:rPr lang="en-US" b="1" dirty="0"/>
              <a:t>Step4:  New subnet mask:  </a:t>
            </a:r>
          </a:p>
          <a:p>
            <a:endParaRPr lang="en-US" b="1" dirty="0"/>
          </a:p>
          <a:p>
            <a:r>
              <a:rPr lang="en-US" b="1" dirty="0"/>
              <a:t>                                                             255.255.255.224 or /27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IN" b="1" dirty="0">
                <a:solidFill>
                  <a:srgbClr val="FF0000"/>
                </a:solidFill>
              </a:rPr>
              <a:t>  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94791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AFF8B2-6915-4E57-5E6F-8DA981E3758C}"/>
              </a:ext>
            </a:extLst>
          </p:cNvPr>
          <p:cNvSpPr txBox="1"/>
          <p:nvPr/>
        </p:nvSpPr>
        <p:spPr>
          <a:xfrm>
            <a:off x="863600" y="1219200"/>
            <a:ext cx="117940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Step5:</a:t>
            </a:r>
          </a:p>
          <a:p>
            <a:r>
              <a:rPr lang="en-US" b="1" dirty="0"/>
              <a:t>               Network Ranges(Subnets)</a:t>
            </a:r>
          </a:p>
          <a:p>
            <a:r>
              <a:rPr lang="en-US" b="1" dirty="0"/>
              <a:t>                  </a:t>
            </a:r>
          </a:p>
          <a:p>
            <a:r>
              <a:rPr lang="en-US" b="1" dirty="0"/>
              <a:t>               216.21.5.0     -     216.21.5.31   (30 host/subnet)</a:t>
            </a:r>
          </a:p>
          <a:p>
            <a:r>
              <a:rPr lang="en-US" b="1" dirty="0"/>
              <a:t>               216.21.5.32   -     216.21.5.63</a:t>
            </a:r>
          </a:p>
          <a:p>
            <a:r>
              <a:rPr lang="en-US" b="1" dirty="0"/>
              <a:t>               216.21.5.64   -     216.21.5.95</a:t>
            </a:r>
          </a:p>
          <a:p>
            <a:r>
              <a:rPr lang="en-US" b="1" dirty="0"/>
              <a:t>               216.21.5.96   -     216.21.5.127</a:t>
            </a:r>
          </a:p>
          <a:p>
            <a:r>
              <a:rPr lang="en-US" b="1" dirty="0"/>
              <a:t>               216.21.5.128 -     216.21.5.159</a:t>
            </a:r>
          </a:p>
          <a:p>
            <a:r>
              <a:rPr lang="en-US" b="1" dirty="0"/>
              <a:t>               &amp; so on ……</a:t>
            </a:r>
          </a:p>
          <a:p>
            <a:r>
              <a:rPr lang="en-US" b="1" dirty="0"/>
              <a:t>  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486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note with a red pin on it&#10;&#10;AI-generated content may be incorrect.">
            <a:extLst>
              <a:ext uri="{FF2B5EF4-FFF2-40B4-BE49-F238E27FC236}">
                <a16:creationId xmlns:a16="http://schemas.microsoft.com/office/drawing/2014/main" id="{59382428-CC9F-C8B5-D158-5BC3775BD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11A85E-C4B2-F2A9-5227-6E034D43282C}"/>
              </a:ext>
            </a:extLst>
          </p:cNvPr>
          <p:cNvSpPr txBox="1"/>
          <p:nvPr/>
        </p:nvSpPr>
        <p:spPr>
          <a:xfrm>
            <a:off x="10236200" y="6189133"/>
            <a:ext cx="1710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Midde Sravya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0271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375</Words>
  <Application>Microsoft Office PowerPoint</Application>
  <PresentationFormat>Widescreen</PresentationFormat>
  <Paragraphs>73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Midde Sricharan</dc:creator>
  <cp:lastModifiedBy>Midde Sricharan</cp:lastModifiedBy>
  <cp:revision>1</cp:revision>
  <dcterms:created xsi:type="dcterms:W3CDTF">2025-11-11T16:22:34Z</dcterms:created>
  <dcterms:modified xsi:type="dcterms:W3CDTF">2025-11-11T18:25:18Z</dcterms:modified>
</cp:coreProperties>
</file>